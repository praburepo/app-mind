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70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62887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ENGINEERING COHORT · CAPSTONE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954007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31907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Knowledge &amp; Decision Intelligence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951273"/>
            <a:ext cx="5232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Prabu Balasubramanian and Group 19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0" y="62382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github.com/PrabuRepo/app-mind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PROBLEM STATEMENT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872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Answering these questions today means finding the right person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2955859"/>
            <a:ext cx="7089902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knowledge is scattered across docs, code, runbooks, and incident history</a:t>
            </a:r>
            <a:endParaRPr lang="en-US" sz="1400" dirty="0"/>
          </a:p>
          <a:p>
            <a:pPr marL="213360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Teams repeatedly ask: </a:t>
            </a:r>
            <a:r>
              <a:rPr lang="en-US" sz="14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did this break</a:t>
            </a:r>
            <a:r>
              <a:rPr lang="en-US" sz="14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4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this work</a:t>
            </a:r>
            <a:r>
              <a:rPr lang="en-US" sz="14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4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breaks if we change X</a:t>
            </a:r>
            <a:endParaRPr lang="en-US" sz="1400" dirty="0"/>
          </a:p>
          <a:p>
            <a:pPr marL="213360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investigates on the team's behalf, producing an evidence-backed, auditable decision brief</a:t>
            </a:r>
            <a:endParaRPr lang="en-US" sz="1400" dirty="0"/>
          </a:p>
          <a:p>
            <a:pPr marL="213360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Escalates to a human when evidence is insufficient or contradictory — captures SME judgment, doesn't replace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3375" y="2963797"/>
            <a:ext cx="3422650" cy="2117791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33834" y="3244255"/>
            <a:ext cx="29475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Deliberately narrow 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33834" y="3625255"/>
            <a:ext cx="294758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target application: </a:t>
            </a:r>
            <a:r>
              <a:rPr lang="en-US" sz="13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33834" y="4008768"/>
            <a:ext cx="2947585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/ Functional</a:t>
            </a:r>
            <a:endParaRPr lang="en-US" sz="1300" dirty="0"/>
          </a:p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 / RCA</a:t>
            </a:r>
            <a:endParaRPr lang="en-US" sz="1300" dirty="0"/>
          </a:p>
          <a:p>
            <a:pPr marL="198120" indent="-168656" algn="l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42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— Capstone Presentation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DATA 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pipeline, synthetic data, verified guardrails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783028"/>
            <a:ext cx="3397250" cy="4055798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033" y="2038086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033" y="2406386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1033" y="2749286"/>
            <a:ext cx="2973747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docs/</a:t>
            </a: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3 files (architecture, requirements, runbook)</a:t>
            </a:r>
            <a:endParaRPr lang="en-US" sz="1250" dirty="0"/>
          </a:p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incidents/</a:t>
            </a: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4 files, each a different planted trap</a:t>
            </a:r>
            <a:endParaRPr lang="en-US" sz="1250" dirty="0"/>
          </a:p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</a:t>
            </a: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AST server (structure) + GitHub MCP (real text)</a:t>
            </a:r>
            <a:endParaRPr lang="en-US" sz="1250" dirty="0"/>
          </a:p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 for docs/incidents — deliberately </a:t>
            </a:r>
            <a:r>
              <a:rPr lang="en-US" sz="12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</a:t>
            </a: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RAG for code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97375" y="1783028"/>
            <a:ext cx="3397250" cy="4055798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pic>
        <p:nvPicPr>
          <p:cNvPr id="9" name="Image 1" descr="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52433" y="2038086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52433" y="2406386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Handling PII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52433" y="2749286"/>
            <a:ext cx="2973747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data is </a:t>
            </a:r>
            <a:r>
              <a:rPr lang="en-US" sz="12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entirely synthetic</a:t>
            </a: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OrderFlow, incidents, and code are purpose-built</a:t>
            </a:r>
            <a:endParaRPr lang="en-US" sz="1250" dirty="0"/>
          </a:p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real user, customer, or production data anywhere in the corpus</a:t>
            </a:r>
            <a:endParaRPr lang="en-US" sz="1250" dirty="0"/>
          </a:p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to anonymize, because nothing real was ever collected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978775" y="1783028"/>
            <a:ext cx="3397250" cy="4055798"/>
          </a:xfrm>
          <a:prstGeom prst="roundRect">
            <a:avLst>
              <a:gd name="adj" fmla="val 2897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pic>
        <p:nvPicPr>
          <p:cNvPr id="13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33834" y="2038086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33834" y="2406386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33834" y="2749286"/>
            <a:ext cx="2973747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</a:t>
            </a: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blocks email/phone/SSN-shaped questions before any retrieval or LLM cost</a:t>
            </a:r>
            <a:endParaRPr lang="en-US" sz="1250" dirty="0"/>
          </a:p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</a:t>
            </a: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blocks an uncited answer from shipping as a confident response</a:t>
            </a:r>
            <a:endParaRPr lang="en-US" sz="1250" dirty="0"/>
          </a:p>
          <a:p>
            <a:pPr marL="190500" indent="-161925" algn="l">
              <a:lnSpc>
                <a:spcPts val="1875"/>
              </a:lnSpc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Real, verified checks — not placeholder stubs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242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— Capstone Presentation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HIGH-LEVEL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orchestration layer, every source behind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355975" y="1987153"/>
            <a:ext cx="2660650" cy="738651"/>
          </a:xfrm>
          <a:prstGeom prst="roundRect">
            <a:avLst>
              <a:gd name="adj" fmla="val 11606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09691" y="2140612"/>
            <a:ext cx="403953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81091" y="2376819"/>
            <a:ext cx="810353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 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87941" y="2779779"/>
            <a:ext cx="1966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5374" y="1987154"/>
            <a:ext cx="3318250" cy="880270"/>
          </a:xfrm>
          <a:prstGeom prst="roundRect">
            <a:avLst>
              <a:gd name="adj" fmla="val 7341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00292" y="2140612"/>
            <a:ext cx="861616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09480" y="2341363"/>
            <a:ext cx="234402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 Harness — 27 comparative runs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93527" y="2610445"/>
            <a:ext cx="2917708" cy="306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LLM-as-Judge · Deterministic AST Check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5999" y="3019824"/>
            <a:ext cx="200881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 invokes same pipeline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38500" y="3475633"/>
            <a:ext cx="5715000" cy="1026054"/>
          </a:xfrm>
          <a:prstGeom prst="roundRect">
            <a:avLst>
              <a:gd name="adj" fmla="val 8664"/>
            </a:avLst>
          </a:prstGeom>
          <a:solidFill>
            <a:srgbClr val="12172B"/>
          </a:solidFill>
          <a:ln/>
        </p:spPr>
      </p:sp>
      <p:sp>
        <p:nvSpPr>
          <p:cNvPr id="14" name="Text 12"/>
          <p:cNvSpPr/>
          <p:nvPr/>
        </p:nvSpPr>
        <p:spPr>
          <a:xfrm>
            <a:off x="4510551" y="3653433"/>
            <a:ext cx="32660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Orchestration — LangGraph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5909" y="3932833"/>
            <a:ext cx="5520182" cy="416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 → Research → Retriever → Evidence → Critic → Confidence Gate → Synthesis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4304" y="4590588"/>
            <a:ext cx="1088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2675" y="4885863"/>
            <a:ext cx="2406650" cy="697971"/>
          </a:xfrm>
          <a:prstGeom prst="roundRect">
            <a:avLst>
              <a:gd name="adj" fmla="val 12282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1880" y="5026620"/>
            <a:ext cx="35904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43774" y="5247548"/>
            <a:ext cx="48445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Qdrant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22675" y="4885863"/>
            <a:ext cx="2406650" cy="697971"/>
          </a:xfrm>
          <a:prstGeom prst="roundRect">
            <a:avLst>
              <a:gd name="adj" fmla="val 12282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463" y="5026620"/>
            <a:ext cx="777809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1631" y="5247548"/>
            <a:ext cx="1328671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 Server + GitHub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2675" y="4885863"/>
            <a:ext cx="2406650" cy="697971"/>
          </a:xfrm>
          <a:prstGeom prst="roundRect">
            <a:avLst>
              <a:gd name="adj" fmla="val 12282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4316" y="5026620"/>
            <a:ext cx="334169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99895" y="5247548"/>
            <a:ext cx="532209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02675" y="4885863"/>
            <a:ext cx="2406650" cy="697971"/>
          </a:xfrm>
          <a:prstGeom prst="roundRect">
            <a:avLst>
              <a:gd name="adj" fmla="val 12282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33281" y="5026620"/>
            <a:ext cx="59617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59768" y="5247548"/>
            <a:ext cx="1092465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 + Redis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242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— Capstone Presentation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b="1" kern="0" spc="5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TECH STACK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098088"/>
            <a:ext cx="10883392" cy="440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72"/>
              </a:lnSpc>
              <a:buNone/>
            </a:pPr>
            <a:r>
              <a:rPr lang="en-US" sz="2846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Chosen for the job, not for the résumé</a:t>
            </a:r>
            <a:endParaRPr lang="en-US" sz="2846" dirty="0"/>
          </a:p>
        </p:txBody>
      </p:sp>
      <p:sp>
        <p:nvSpPr>
          <p:cNvPr id="4" name="Shape 2"/>
          <p:cNvSpPr/>
          <p:nvPr/>
        </p:nvSpPr>
        <p:spPr>
          <a:xfrm>
            <a:off x="812800" y="1716286"/>
            <a:ext cx="10566400" cy="4125714"/>
          </a:xfrm>
          <a:custGeom>
            <a:avLst/>
            <a:gdLst/>
            <a:ahLst/>
            <a:cxnLst/>
            <a:rect l="l" t="t" r="r" b="b"/>
            <a:pathLst>
              <a:path w="10566400" h="4125714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4049514"/>
                </a:lnTo>
                <a:arcTo wR="76200" hR="76200" stAng="0" swAng="5400000"/>
                <a:lnTo>
                  <a:pt x="76200" y="4125714"/>
                </a:lnTo>
                <a:arcTo wR="76200" hR="76200" stAng="5400000" swAng="5400000"/>
                <a:lnTo>
                  <a:pt x="0" y="4049514"/>
                </a:lnTo>
                <a:arcTo wR="76200" hR="69850" stAng="10800000" swAng="-5400000"/>
                <a:lnTo>
                  <a:pt x="10490200" y="4119364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E3E6E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16286"/>
            <a:ext cx="10566400" cy="4125714"/>
          </a:xfrm>
          <a:custGeom>
            <a:avLst/>
            <a:gdLst/>
            <a:ahLst/>
            <a:cxnLst/>
            <a:rect l="l" t="t" r="r" b="b"/>
            <a:pathLst>
              <a:path w="10566400" h="4125714">
                <a:moveTo>
                  <a:pt x="76200" y="4125714"/>
                </a:moveTo>
                <a:lnTo>
                  <a:pt x="76200" y="4125714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3500" stAng="0" swAng="-5400000"/>
                <a:lnTo>
                  <a:pt x="76200" y="12700"/>
                </a:lnTo>
                <a:arcTo wR="63500" hR="63500" stAng="16200000" swAng="-5400000"/>
                <a:lnTo>
                  <a:pt x="12700" y="4049514"/>
                </a:lnTo>
                <a:arcTo wR="63500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28986"/>
          <a:ext cx="10549467" cy="4108780"/>
        </p:xfrm>
        <a:graphic>
          <a:graphicData uri="http://schemas.openxmlformats.org/drawingml/2006/table">
            <a:tbl>
              <a:tblPr/>
              <a:tblGrid>
                <a:gridCol w="295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5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888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b="1" dirty="0">
                          <a:solidFill>
                            <a:srgbClr val="F2F4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Framework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b="1" dirty="0">
                          <a:solidFill>
                            <a:srgbClr val="F2F4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Role in AppMind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88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LangGraph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Stateful orchestration — conditional routing per pipeline_mode, the Critic retry loop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888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Pydantic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schemas for every inter-node payload — no silent malformed data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888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MCP SDK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Standard protocol for both code-access tools — custom AST server + GitHub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888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Qdrant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Vector search — separate docs / incidents collections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888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PostgreSQL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Investigation audit trail — one row per completed run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888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Redis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Investigation-lookup cache — repeat questions skip re-investigation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954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Streamlit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Single-page UI — calls the pipeline in-process, no separate API layer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54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OpenAI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LLM reasoning and embeddings — gpt-5.4-mini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702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Eval Harness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Custom-built (evals/ + llm_as_judge/) — direct SDK calls, not a framework — 27 comparative runs scored with LLM-as-Judge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954"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4C6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86"/>
                        </a:lnSpc>
                        <a:buNone/>
                      </a:pPr>
                      <a:r>
                        <a:rPr lang="en-US" sz="1276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Local infrastructure — Postgres, Qdrant, Redis</a:t>
                      </a:r>
                      <a:endParaRPr lang="en-US" sz="1276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6702" marR="56702" marT="56702" marB="56702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242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— Capstone Presentation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EVALUATION METHODOLOGY &amp; LLM-AS-JUDGE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mandatory comparison, scored two different ways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754454"/>
            <a:ext cx="10883392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5740" indent="-169037" algn="l">
              <a:lnSpc>
                <a:spcPts val="2025"/>
              </a:lnSpc>
              <a:buSzPct val="100000"/>
              <a:buChar char="•"/>
            </a:pPr>
            <a:r>
              <a:rPr lang="en-US" sz="135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Custom-built harness</a:t>
            </a:r>
            <a:r>
              <a:rPr lang="en-US" sz="135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(evals/run_eval.py) — direct SDK calls, not a framework like promptfoo or ragas</a:t>
            </a:r>
            <a:endParaRPr lang="en-US" sz="1350" dirty="0"/>
          </a:p>
          <a:p>
            <a:pPr marL="205740" indent="-169037" algn="l">
              <a:lnSpc>
                <a:spcPts val="2025"/>
              </a:lnSpc>
              <a:buSzPct val="100000"/>
              <a:buChar char="•"/>
            </a:pPr>
            <a:r>
              <a:rPr lang="en-US" sz="135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pipeline_modes compared head-to-head</a:t>
            </a:r>
            <a:r>
              <a:rPr lang="en-US" sz="135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baseline / critic_off / critic_on</a:t>
            </a:r>
            <a:endParaRPr lang="en-US" sz="1350" dirty="0"/>
          </a:p>
          <a:p>
            <a:pPr marL="205740" indent="-169037" algn="l">
              <a:lnSpc>
                <a:spcPts val="2025"/>
              </a:lnSpc>
              <a:buSzPct val="100000"/>
              <a:buChar char="•"/>
            </a:pPr>
            <a:r>
              <a:rPr lang="en-US" sz="135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questions</a:t>
            </a:r>
            <a:r>
              <a:rPr lang="en-US" sz="135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(3 demo + 6 backing) × 3 modes × 1 trial = </a:t>
            </a:r>
            <a:r>
              <a:rPr lang="en-US" sz="135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 graph runs</a:t>
            </a:r>
            <a:endParaRPr lang="en-US" sz="1350" dirty="0"/>
          </a:p>
          <a:p>
            <a:pPr marL="205740" indent="-16903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Covers all 4 planted corpus traps — real bug, false alarm, doc contradiction, filler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15975" y="3014929"/>
            <a:ext cx="3397250" cy="2823898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pic>
        <p:nvPicPr>
          <p:cNvPr id="6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033" y="3269986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033" y="3625586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LLM-as-Judge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1033" y="3955786"/>
            <a:ext cx="2973747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Scores every subjective question for false-confidence, error-catch, and citation accuracy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97375" y="3014929"/>
            <a:ext cx="3397250" cy="2823898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pic>
        <p:nvPicPr>
          <p:cNvPr id="10" name="Image 1" descr="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52433" y="3269986"/>
            <a:ext cx="254000" cy="254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2433" y="3625586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AST Check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52433" y="3955786"/>
            <a:ext cx="2973747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Analysis answers checked directly against the AST server's real dependency graph — zero LLM cost, zero variance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78775" y="3014929"/>
            <a:ext cx="3397250" cy="2823898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 w="6350">
            <a:solidFill>
              <a:srgbClr val="E3E6EC"/>
            </a:solidFill>
            <a:prstDash val="solid"/>
          </a:ln>
        </p:spPr>
      </p:sp>
      <p:pic>
        <p:nvPicPr>
          <p:cNvPr id="14" name="Image 2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33834" y="3269986"/>
            <a:ext cx="254000" cy="254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33834" y="3625586"/>
            <a:ext cx="297374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33834" y="3955786"/>
            <a:ext cx="2973747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dedicated fault-injection cases — dead MCP, hung MCP, Qdrant down, empty retrieval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242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— Capstone Presentation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TEST RESULTS &amp;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 real graph runs, not a rehearsed demo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729054"/>
            <a:ext cx="10566400" cy="2252927"/>
          </a:xfrm>
          <a:custGeom>
            <a:avLst/>
            <a:gdLst/>
            <a:ahLst/>
            <a:cxnLst/>
            <a:rect l="l" t="t" r="r" b="b"/>
            <a:pathLst>
              <a:path w="10566400" h="2252927">
                <a:moveTo>
                  <a:pt x="10490200" y="0"/>
                </a:moveTo>
                <a:lnTo>
                  <a:pt x="10490200" y="0"/>
                </a:lnTo>
                <a:arcTo wR="76200" hR="76200" stAng="16200000" swAng="5400000"/>
                <a:lnTo>
                  <a:pt x="10566400" y="2176727"/>
                </a:lnTo>
                <a:arcTo wR="76200" hR="76200" stAng="0" swAng="5400000"/>
                <a:lnTo>
                  <a:pt x="76200" y="2252927"/>
                </a:lnTo>
                <a:arcTo wR="76200" hR="76200" stAng="5400000" swAng="5400000"/>
                <a:lnTo>
                  <a:pt x="0" y="2176727"/>
                </a:lnTo>
                <a:arcTo wR="76200" hR="69850" stAng="10800000" swAng="-5400000"/>
                <a:lnTo>
                  <a:pt x="10490200" y="2246577"/>
                </a:lnTo>
                <a:arcTo wR="69850" hR="69850" stAng="5400000" swAng="-5400000"/>
                <a:lnTo>
                  <a:pt x="10560050" y="76200"/>
                </a:lnTo>
                <a:arcTo wR="69850" hR="76200" stAng="0" swAng="-5400000"/>
                <a:close/>
              </a:path>
            </a:pathLst>
          </a:custGeom>
          <a:solidFill>
            <a:srgbClr val="E3E6EC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29054"/>
            <a:ext cx="10566400" cy="2252927"/>
          </a:xfrm>
          <a:custGeom>
            <a:avLst/>
            <a:gdLst/>
            <a:ahLst/>
            <a:cxnLst/>
            <a:rect l="l" t="t" r="r" b="b"/>
            <a:pathLst>
              <a:path w="10566400" h="2252927">
                <a:moveTo>
                  <a:pt x="76200" y="2252927"/>
                </a:moveTo>
                <a:lnTo>
                  <a:pt x="76200" y="2252927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0" y="0"/>
                </a:lnTo>
                <a:arcTo wR="76200" hR="76200" stAng="16200000" swAng="5400000"/>
                <a:lnTo>
                  <a:pt x="10566400" y="76200"/>
                </a:lnTo>
                <a:arcTo wR="76200" hR="63500" stAng="0" swAng="-5400000"/>
                <a:lnTo>
                  <a:pt x="76200" y="12700"/>
                </a:lnTo>
                <a:arcTo wR="63500" hR="63500" stAng="16200000" swAng="-5400000"/>
                <a:lnTo>
                  <a:pt x="12700" y="2176727"/>
                </a:lnTo>
                <a:arcTo wR="63500" hR="762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41754"/>
          <a:ext cx="10549466" cy="2235996"/>
        </p:xfrm>
        <a:graphic>
          <a:graphicData uri="http://schemas.openxmlformats.org/drawingml/2006/table">
            <a:tbl>
              <a:tblPr/>
              <a:tblGrid>
                <a:gridCol w="4219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9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2F4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Metric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2F4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2F4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Critic Off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2F4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Critic 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False-confidence rate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0.429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0.143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0.286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Error-catch rate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A1F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2BB67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Citation accuracy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0.774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0.816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0.828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 tokens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1,294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2,542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0A5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9,367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Mean latency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3.8s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5.1s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0A52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14.7s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185180"/>
            <a:ext cx="1088339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handling:</a:t>
            </a: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4/4 fault-injection cases pass — every failure degrades to an honest escalation, never a crash</a:t>
            </a:r>
            <a:endParaRPr lang="en-US" sz="130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suites:</a:t>
            </a: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14/14 AST server, 11/11 GitHub client, all unit suites passing</a:t>
            </a:r>
            <a:endParaRPr lang="en-US" sz="1300" dirty="0"/>
          </a:p>
          <a:p>
            <a:pPr marL="198120" indent="-168656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Honest finding:</a:t>
            </a: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false-confidence rate varied between two full eval runs (0.143 → 0.286) — single-trial variance, stated plainly, not smoothed over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242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— Capstone Presentation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7C9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qualified win for the Critic — stated honestly, not oversold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2800" y="1793149"/>
            <a:ext cx="3420533" cy="1503561"/>
          </a:xfrm>
          <a:prstGeom prst="roundRect">
            <a:avLst>
              <a:gd name="adj" fmla="val 6757"/>
            </a:avLst>
          </a:prstGeom>
          <a:solidFill>
            <a:srgbClr val="1B2140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21749"/>
            <a:ext cx="305223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2BB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0.75 </a:t>
            </a:r>
            <a:r>
              <a:rPr lang="en-US" sz="3200" b="1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0.50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41400" y="2641470"/>
            <a:ext cx="3052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Error-catch rate — stable across both runs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5733" y="1793149"/>
            <a:ext cx="3420533" cy="1503561"/>
          </a:xfrm>
          <a:prstGeom prst="roundRect">
            <a:avLst>
              <a:gd name="adj" fmla="val 6757"/>
            </a:avLst>
          </a:prstGeom>
          <a:solidFill>
            <a:srgbClr val="1B2140"/>
          </a:solidFill>
          <a:ln/>
        </p:spPr>
      </p:sp>
      <p:sp>
        <p:nvSpPr>
          <p:cNvPr id="8" name="Text 6"/>
          <p:cNvSpPr/>
          <p:nvPr/>
        </p:nvSpPr>
        <p:spPr>
          <a:xfrm>
            <a:off x="4614333" y="2021749"/>
            <a:ext cx="305223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E0A5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~7x </a:t>
            </a:r>
            <a:r>
              <a:rPr lang="en-US" sz="3200" b="1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14333" y="2641470"/>
            <a:ext cx="3052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cost of the Critic vs. baseline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8667" y="1793149"/>
            <a:ext cx="3420533" cy="1503561"/>
          </a:xfrm>
          <a:prstGeom prst="roundRect">
            <a:avLst>
              <a:gd name="adj" fmla="val 6757"/>
            </a:avLst>
          </a:prstGeom>
          <a:solidFill>
            <a:srgbClr val="1B2140"/>
          </a:solidFill>
          <a:ln/>
        </p:spPr>
      </p:sp>
      <p:sp>
        <p:nvSpPr>
          <p:cNvPr id="11" name="Text 9"/>
          <p:cNvSpPr/>
          <p:nvPr/>
        </p:nvSpPr>
        <p:spPr>
          <a:xfrm>
            <a:off x="8187267" y="2021749"/>
            <a:ext cx="305223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7C9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0.143 → 0.286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87267" y="2641470"/>
            <a:ext cx="3052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False-confidence rate — not yet stable at 1 trial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576110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5740" indent="-16903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Critic can also be </a:t>
            </a:r>
            <a:r>
              <a:rPr lang="en-US" sz="13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over-cautious</a:t>
            </a:r>
            <a:r>
              <a:rPr lang="en-US" sz="1350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genuine two-sided trade-off, not just a win</a:t>
            </a:r>
            <a:endParaRPr lang="en-US" sz="1350" dirty="0"/>
          </a:p>
          <a:p>
            <a:pPr marL="205740" indent="-169037" algn="l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Escalating instead of guessing, and reporting its own variance instead of hiding it, is itself validation of the core thesis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42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— Capstone Presentation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AB2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·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Deliberately scoped out, not forgotten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779854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Near-term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107474"/>
            <a:ext cx="5310886" cy="1816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</a:t>
            </a:r>
            <a:r>
              <a:rPr lang="en-US" sz="1300" b="1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--trials N</a:t>
            </a: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statistically stable eval numbers</a:t>
            </a:r>
            <a:endParaRPr lang="en-US" sz="1300" dirty="0"/>
          </a:p>
          <a:p>
            <a:pPr marL="198120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Explore local Docker GitHub MCP (server-level read-only tool restriction)</a:t>
            </a:r>
            <a:endParaRPr lang="en-US" sz="1300" dirty="0"/>
          </a:p>
          <a:p>
            <a:pPr marL="198120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the AST server itself MCP-native — remove the local-checkout dependency</a:t>
            </a:r>
            <a:endParaRPr lang="en-US" sz="1300" dirty="0"/>
          </a:p>
          <a:p>
            <a:pPr marL="198120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V2 — pipeline_mode selector, critique-flag display, cost/latency footer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23000" y="1779854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4C6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Explicitly deferred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23000" y="2107474"/>
            <a:ext cx="5310886" cy="104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Reranker, HyDE, query-rewrite-as-a-step</a:t>
            </a:r>
            <a:endParaRPr lang="en-US" sz="1300" dirty="0"/>
          </a:p>
          <a:p>
            <a:pPr marL="198120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 algorithm comparison (HNSW vs. exact/IVF)</a:t>
            </a:r>
            <a:endParaRPr lang="en-US" sz="1300" dirty="0"/>
          </a:p>
          <a:p>
            <a:pPr marL="198120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memory reuse, richer guardrails, a second vector DB</a:t>
            </a:r>
            <a:endParaRPr lang="en-US" sz="1300" dirty="0"/>
          </a:p>
          <a:p>
            <a:pPr marL="198120" indent="-1686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LangSmith evals — personal exploration vs. the custom harness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242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AppMind — Capstone Presentation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947</Words>
  <Application>Microsoft Office PowerPoint</Application>
  <PresentationFormat>Widescreen</PresentationFormat>
  <Paragraphs>164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IBM Plex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AppMind Capstone Presentation</dc:title>
  <dc:subject>PptxGenJS Presentation</dc:subject>
  <dc:creator>PptxGenJS</dc:creator>
  <cp:lastModifiedBy>Prabu Balasubramanian</cp:lastModifiedBy>
  <cp:revision>3</cp:revision>
  <dcterms:created xsi:type="dcterms:W3CDTF">2026-09-27T23:18:02Z</dcterms:created>
  <dcterms:modified xsi:type="dcterms:W3CDTF">2026-09-27T23:21:37Z</dcterms:modified>
</cp:coreProperties>
</file>